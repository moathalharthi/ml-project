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PAY_1</c:v>
                </c:pt>
                <c:pt idx="1">
                  <c:v>max_delay</c:v>
                </c:pt>
                <c:pt idx="2">
                  <c:v>total_delay_months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0.32</c:v>
                </c:pt>
                <c:pt idx="1">
                  <c:v>0.21</c:v>
                </c:pt>
                <c:pt idx="2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D0-469D-98C6-CE718F83D0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52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40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Default Prediction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next-month default risk for retail credit-card customers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54864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DOMAIN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consumer credit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risk-management context.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issues credit-card products and bears the loss when customers fail to repay outstanding balances on time.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566160"/>
            <a:ext cx="54864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3977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next-month default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12280" y="46177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active customer, output the probability they will default on next month's payment,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bank can intervene before the loss is realised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restructure terms, lower limits, or close exposure.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Status Quo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retail credit risk is managed today — without a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864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09728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933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93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(NON-ML) SOLUTION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review + rule engine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77240" y="31089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31089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analysts manually review individual accounts on a rotating cycle.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3822192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3822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25880" y="382219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 engines flag accounts (e.g., "3+ consecutive missed payments").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" y="4535424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535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25880" y="453542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FICO/credit-score thresholds gate limit increases and account closures.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" y="5248656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5248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524865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portfolio committee reviews high-balance segments.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1783080"/>
            <a:ext cx="548640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93392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95160" y="1993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92240" y="2423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status quo falls short</a:t>
            </a:r>
            <a:endParaRPr lang="en-US" sz="2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182112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0372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scale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903720" y="34747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thousands of accounts cannot be hand-reviewed monthly.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895344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03720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slow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41879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backlog means flags arrive after the loss is incurred.</a:t>
            </a:r>
            <a:endParaRPr lang="en-US" sz="11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608576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03720" y="4535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Misses interactions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903720" y="49011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can't see joint signals across 6-month behaviour.</a:t>
            </a:r>
            <a:endParaRPr lang="en-US" sz="11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5321808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903720" y="5248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Reactive, not predictive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6903720" y="56144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fire AFTER missed payments — too late to intervene.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Prediction  |  Coursework Project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 for Machine Learning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classification with probabilistic output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0" y="1554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P(default) ∈ [0, 1]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ML 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54406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1546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31927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0876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Captures non-linear interactions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08760" y="37947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learn joint signals across 23 features and 6-month behavioural windows that no static rule can encode.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2880360"/>
            <a:ext cx="54406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92240" y="31546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31927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31520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 dev-months · ROI multiple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315200" y="37947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missed default ≈ outstanding loan amount; even a +10% recall lift across thousands of accounts dwarfs the build cost.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4526280"/>
            <a:ext cx="54406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5800" y="48006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965192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50876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Compact cross-functional team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508760" y="5440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scientist · 1 ML engineer · 1 credit-risk SME. PyCaret keeps the modelling stack lightweight.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63640" y="4526280"/>
            <a:ext cx="54406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92240" y="48006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965192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15200" y="4754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31520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retrain · drift monitor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315200" y="5440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drifts (macro shocks, policy changes). Track input distributions and model AUC monthly; retrain quarterly.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Prediction  |  Coursework Project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Assessment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quality, and the ART test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97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24,000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697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3756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97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1792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1783080"/>
            <a:ext cx="2697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9828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TEST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Availability · Representativeness · Trust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35204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3434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5650992"/>
            <a:ext cx="292608" cy="2926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17320" y="4343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5800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UCI dataset · all features routinely captured by retail-banking systems · pipeline reproducible in production.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43400" y="4160520"/>
            <a:ext cx="35204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43434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2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5650992"/>
            <a:ext cx="292608" cy="29260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03520" y="4343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Representativeness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4572000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behaviour · realistic 22% imbalance (not pre-balanced) · spans demographics, limits, and tenure.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229600" y="4160520"/>
            <a:ext cx="35204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458200" y="43434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45820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5650992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189720" y="4343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8458200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source · ground-truth labels (not imputed) · no missing values · feature definitions published.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Prediction  |  Coursework Project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&amp; Selection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engineered features summarising 6-month customer behaviour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874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214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avg_bill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monthly statement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2057400"/>
            <a:ext cx="1874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1214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avg_payment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monthly payment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2057400"/>
            <a:ext cx="1874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1214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utilization_rate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÷ credit limit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057400"/>
            <a:ext cx="1874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214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payment_ratio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÷ owed (clipped)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2057400"/>
            <a:ext cx="1874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1214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total_delay_months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arrears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0" y="2057400"/>
            <a:ext cx="1874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21214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max_delay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14984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single delay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POWER — Top 3 features driving the model</a:t>
            </a:r>
            <a:endParaRPr lang="en-US" sz="12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57200" y="3657600"/>
          <a:ext cx="6400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7040880" y="3749040"/>
            <a:ext cx="73152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237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PAY_1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223760" y="4041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payment status — strongest leading indicator of next-month risk.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040880" y="4526280"/>
            <a:ext cx="73152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2376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max_delay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223760" y="48188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delay observed — captures peak distress, even if other months looked fine.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040880" y="5303520"/>
            <a:ext cx="73152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total_delay_months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23760" y="55961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arrears — distinguishes one-off lapses from chronic struggling.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Prediction  |  Coursework Project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Predictions &amp; Decision Mapping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probability to operational action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02920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PREDICTION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probability score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P(default | features) ∈ [0.00, 1.00]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520440"/>
            <a:ext cx="18288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3520440"/>
            <a:ext cx="13716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520440"/>
            <a:ext cx="150876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86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3886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3886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3886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3383280"/>
            <a:ext cx="0" cy="59436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7724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F1-optimal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≈ 0.30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probabilistic, not just 0/1?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lets the bank tier customers and apply different actions — not just "approve / decline."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MAPPING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2194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probability to action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852160" y="2788920"/>
            <a:ext cx="58521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788920"/>
            <a:ext cx="164592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898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2648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&gt; 0.70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29535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manual review · consider limit reduction or proactive outreach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3931920"/>
            <a:ext cx="58521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3931920"/>
            <a:ext cx="16459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2648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 ≤ P ≤ 0.70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40965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monitoring · adjust pricing, terms, or repayment reminders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5074920"/>
            <a:ext cx="58521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5074920"/>
            <a:ext cx="16459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5184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RISK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26480" y="5577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&lt; 0.40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03920" y="52395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processing · no extra friction · routine offers eligible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Prediction  |  Coursework Project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Success Criteria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judge whether the model is ready to deploy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METRICS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463040" y="2606040"/>
            <a:ext cx="68580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· ranks true positives above true negatives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97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68580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actual defaulters · the metric we prioritise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97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223760" y="2606040"/>
            <a:ext cx="68580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2011680"/>
            <a:ext cx="2697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104120" y="2606040"/>
            <a:ext cx="68580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 · weak signal under imbalance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 CRITERIA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5532120" cy="2148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31920"/>
            <a:ext cx="137160" cy="2148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6908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3444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7724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four thresholds met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7240" y="48920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≥ 0.75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≥ 0.60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≥ 0.55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≥ 0.78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72200" y="3931920"/>
            <a:ext cx="5532120" cy="2148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2200" y="3931920"/>
            <a:ext cx="137160" cy="2148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069080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94944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DEPLOY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49224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of these fire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492240" y="48920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&lt; 0.50 — misses majority of defaulters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&lt; 0.65 — barely better than chance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 across SEX / EDUCATION / MARRIAGE flagged in fairness audit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Prediction  |  Coursework Project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834</Words>
  <Application>Microsoft Office PowerPoint</Application>
  <PresentationFormat>Widescreen</PresentationFormat>
  <Paragraphs>157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Default Prediction</dc:title>
  <dc:subject>PptxGenJS Presentation</dc:subject>
  <dc:creator>Credit Default Prediction Project</dc:creator>
  <cp:lastModifiedBy>moath alharthy</cp:lastModifiedBy>
  <cp:revision>2</cp:revision>
  <dcterms:created xsi:type="dcterms:W3CDTF">2026-04-25T20:52:00Z</dcterms:created>
  <dcterms:modified xsi:type="dcterms:W3CDTF">2026-04-25T21:44:13Z</dcterms:modified>
</cp:coreProperties>
</file>